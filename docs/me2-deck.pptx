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1887200" cy="8412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Helvetica Neue"/>
              </a:rPr>
              <a:t>ME2 — Voice Controlled Smart Device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412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Helvetica Neue"/>
              </a:rPr>
              <a:t>Always-on keyword + intent recognition at the edge · no cloud round-trip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0700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Helvetica Neue"/>
              </a:rPr>
              <a:t>2 October 2026 · [author / team] · Model · Dataset · Training on an RTX 5060 laptop GPU · Validation on RPi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71907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F4FD8"/>
                </a:solidFill>
                <a:latin typeface="Helvetica Neue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2121408"/>
            <a:ext cx="5440680" cy="384048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5875">
            <a:solidFill>
              <a:srgbClr val="9DB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500" b="1">
                <a:solidFill>
                  <a:srgbClr val="1E2B4A"/>
                </a:solidFill>
                <a:latin typeface="Helvetica Neue"/>
              </a:rPr>
              <a:t>Mic · 16 kHz → log-mel 64 × 498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2578608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E6F3EA"/>
          </a:solidFill>
          <a:ln w="15875">
            <a:solidFill>
              <a:srgbClr val="5FA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500" b="1">
                <a:solidFill>
                  <a:srgbClr val="1B4D2A"/>
                </a:solidFill>
                <a:latin typeface="Helvetica Neue"/>
              </a:rPr>
              <a:t>Conformer encoder × 4 · 64-dim · 3-seed ensemble</a:t>
            </a:r>
          </a:p>
          <a:p>
            <a:pPr algn="ctr"/>
            <a:r>
              <a:rPr sz="1200">
                <a:solidFill>
                  <a:srgbClr val="1B4D2A"/>
                </a:solidFill>
                <a:latin typeface="Helvetica Neue"/>
              </a:rPr>
              <a:t>one 5 s window after the wake word (not streaming, no KV-cache)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3218688"/>
            <a:ext cx="2665476" cy="384048"/>
          </a:xfrm>
          <a:prstGeom prst="roundRect">
            <a:avLst>
              <a:gd name="adj" fmla="val 12000"/>
            </a:avLst>
          </a:prstGeom>
          <a:solidFill>
            <a:srgbClr val="FDF0DC"/>
          </a:solidFill>
          <a:ln w="15875">
            <a:solidFill>
              <a:srgbClr val="D99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500" b="1">
                <a:solidFill>
                  <a:srgbClr val="6B450B"/>
                </a:solidFill>
                <a:latin typeface="Helvetica Neue"/>
              </a:rPr>
              <a:t>Intent head (19 + OOS)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4116" y="3218688"/>
            <a:ext cx="2665476" cy="384048"/>
          </a:xfrm>
          <a:prstGeom prst="roundRect">
            <a:avLst>
              <a:gd name="adj" fmla="val 12000"/>
            </a:avLst>
          </a:prstGeom>
          <a:solidFill>
            <a:srgbClr val="FDF0DC"/>
          </a:solidFill>
          <a:ln w="15875">
            <a:solidFill>
              <a:srgbClr val="D99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500" b="1">
                <a:solidFill>
                  <a:srgbClr val="6B450B"/>
                </a:solidFill>
                <a:latin typeface="Helvetica Neue"/>
              </a:rPr>
              <a:t>Slot heads (6 × 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3675887"/>
            <a:ext cx="2665476" cy="384048"/>
          </a:xfrm>
          <a:prstGeom prst="roundRect">
            <a:avLst>
              <a:gd name="adj" fmla="val 12000"/>
            </a:avLst>
          </a:prstGeom>
          <a:solidFill>
            <a:srgbClr val="EFEAF8"/>
          </a:solidFill>
          <a:ln w="15875">
            <a:solidFill>
              <a:srgbClr val="8E7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500" b="1">
                <a:solidFill>
                  <a:srgbClr val="3B2A6B"/>
                </a:solidFill>
                <a:latin typeface="Helvetica Neue"/>
              </a:rPr>
              <a:t>Actuator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4116" y="3675887"/>
            <a:ext cx="2665476" cy="384048"/>
          </a:xfrm>
          <a:prstGeom prst="roundRect">
            <a:avLst>
              <a:gd name="adj" fmla="val 12000"/>
            </a:avLst>
          </a:prstGeom>
          <a:solidFill>
            <a:srgbClr val="F1F8E6"/>
          </a:solidFill>
          <a:ln w="15875">
            <a:solidFill>
              <a:srgbClr val="84B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500" b="1">
                <a:solidFill>
                  <a:srgbClr val="2F5510"/>
                </a:solidFill>
                <a:latin typeface="Helvetica Neue"/>
              </a:rPr>
              <a:t>Raspberry Pi 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38912" y="4224528"/>
          <a:ext cx="544068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33756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Item</a:t>
                      </a:r>
                    </a:p>
                  </a:txBody>
                  <a:tcPr marL="91440" marR="91440" marT="27432" marB="27432" anchor="ctr">
                    <a:solidFill>
                      <a:srgbClr val="1727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Value</a:t>
                      </a:r>
                    </a:p>
                  </a:txBody>
                  <a:tcPr marL="91440" marR="91440" marT="27432" marB="27432" anchor="ctr">
                    <a:solidFill>
                      <a:srgbClr val="1727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Parameters / weights</a:t>
                      </a:r>
                    </a:p>
                  </a:txBody>
                  <a:tcPr marL="91440" marR="91440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0.88 M · 4.46 MB fp32 (2.78 MB int8)</a:t>
                      </a:r>
                    </a:p>
                  </a:txBody>
                  <a:tcPr marL="91440" marR="91440" marT="27432" marB="27432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38912" y="501091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F4FD8"/>
                </a:solidFill>
                <a:latin typeface="Helvetica Neue"/>
              </a:rPr>
              <a:t>Validation on the Raspberry Pi 4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38912" y="5413248"/>
          <a:ext cx="54406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33756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Item</a:t>
                      </a:r>
                    </a:p>
                  </a:txBody>
                  <a:tcPr marL="91440" marR="91440" marT="27432" marB="27432" anchor="ctr">
                    <a:solidFill>
                      <a:srgbClr val="1727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Value</a:t>
                      </a:r>
                    </a:p>
                  </a:txBody>
                  <a:tcPr marL="91440" marR="91440" marT="27432" marB="27432" anchor="ctr">
                    <a:solidFill>
                      <a:srgbClr val="1727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Keyword / intent acc</a:t>
                      </a:r>
                    </a:p>
                  </a:txBody>
                  <a:tcPr marL="91440" marR="91440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48.0 % / 46.9 % (97.9 % once woken)</a:t>
                      </a:r>
                    </a:p>
                  </a:txBody>
                  <a:tcPr marL="91440" marR="91440" marT="27432" marB="27432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False-accept rate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0.0 % (0 of 10 out-of-scope)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Latency p95 / RTF</a:t>
                      </a:r>
                    </a:p>
                  </a:txBody>
                  <a:tcPr marL="91440" marR="91440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1,657 ms e2e (model 101 ms) / 0.020</a:t>
                      </a:r>
                    </a:p>
                  </a:txBody>
                  <a:tcPr marL="91440" marR="91440" marT="27432" marB="27432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Runtime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onnxruntime · 2 thr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8912" y="7150608"/>
            <a:ext cx="5440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Helvetica Neue"/>
              </a:rPr>
              <a:t>First live holdout run, laptop speaker → Pi mic (196 + 10 trials). Every miss was a missed wake word; wake model v2 is being retrained and re-run.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171907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F4FD8"/>
                </a:solidFill>
                <a:latin typeface="Helvetica Neue"/>
              </a:rPr>
              <a:t>Dataset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53328" y="2121408"/>
          <a:ext cx="54406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8404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Item</a:t>
                      </a:r>
                    </a:p>
                  </a:txBody>
                  <a:tcPr marL="91440" marR="91440" marT="27432" marB="27432" anchor="ctr">
                    <a:solidFill>
                      <a:srgbClr val="1727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Value</a:t>
                      </a:r>
                    </a:p>
                  </a:txBody>
                  <a:tcPr marL="91440" marR="91440" marT="27432" marB="27432" anchor="ctr">
                    <a:solidFill>
                      <a:srgbClr val="1727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Source</a:t>
                      </a:r>
                    </a:p>
                  </a:txBody>
                  <a:tcPr marL="91440" marR="91440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HF airimonda/ai231-me2-voice-commands</a:t>
                      </a:r>
                    </a:p>
                  </a:txBody>
                  <a:tcPr marL="91440" marR="91440" marT="27432" marB="27432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Hours / utts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8.74 h / 15,378 (+1,250 synth. negatives)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Speakers</a:t>
                      </a:r>
                    </a:p>
                  </a:txBody>
                  <a:tcPr marL="91440" marR="91440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428 IDs, disjoint train / test / holdout</a:t>
                      </a:r>
                    </a:p>
                  </a:txBody>
                  <a:tcPr marL="91440" marR="91440" marT="27432" marB="27432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Labels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19 intents (+ OOS) · 6 slots × 3 values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53328" y="3730752"/>
            <a:ext cx="5440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Helvetica Neue"/>
              </a:rPr>
              <a:t>Group recordings + Common Voice, SLURP, FSC, SNIPS, Speech Commands, TimersAndSuch; 78 % of train is synthetic speech.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8" y="4251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F4FD8"/>
                </a:solidFill>
                <a:latin typeface="Helvetica Neue"/>
              </a:rPr>
              <a:t>Training on the A100 cluster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053328" y="4654296"/>
          <a:ext cx="54406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8404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Item</a:t>
                      </a:r>
                    </a:p>
                  </a:txBody>
                  <a:tcPr marL="91440" marR="91440" marT="27432" marB="27432" anchor="ctr">
                    <a:solidFill>
                      <a:srgbClr val="1727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Value</a:t>
                      </a:r>
                    </a:p>
                  </a:txBody>
                  <a:tcPr marL="91440" marR="91440" marT="27432" marB="27432" anchor="ctr">
                    <a:solidFill>
                      <a:srgbClr val="1727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Cluster</a:t>
                      </a:r>
                    </a:p>
                  </a:txBody>
                  <a:tcPr marL="91440" marR="91440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no A100: 1× RTX 5060 Laptop GPU (8 GB)</a:t>
                      </a:r>
                    </a:p>
                  </a:txBody>
                  <a:tcPr marL="91440" marR="91440" marT="27432" marB="27432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Objective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CE (intent + masked slot) + misfire term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Optimiser</a:t>
                      </a:r>
                    </a:p>
                  </a:txBody>
                  <a:tcPr marL="91440" marR="91440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AdamW · lr 3e-3 · cosine · batch 64</a:t>
                      </a:r>
                    </a:p>
                  </a:txBody>
                  <a:tcPr marL="91440" marR="91440" marT="27432" marB="27432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Steps / loss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Helvetica Neue"/>
                        </a:rPr>
                        <a:t>7,905 / 1.66 (seed 0, best epoch 51)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0607040" y="80010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Helvetica Neue"/>
              </a:rPr>
              <a:t>p. 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Helvetica Neue"/>
              </a:rPr>
              <a:t>To Be Submitted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914400"/>
            <a:ext cx="11009376" cy="45720"/>
          </a:xfrm>
          <a:prstGeom prst="rect">
            <a:avLst/>
          </a:prstGeom>
          <a:solidFill>
            <a:srgbClr val="7A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" y="1207008"/>
            <a:ext cx="11009376" cy="2340864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D49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" y="1243584"/>
          <a:ext cx="1093622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8284464"/>
              </a:tblGrid>
              <a:tr h="56692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6B450B"/>
                          </a:solidFill>
                          <a:latin typeface="Helvetica Neue"/>
                        </a:rPr>
                        <a:t>GitHub repository</a:t>
                      </a:r>
                    </a:p>
                  </a:txBody>
                  <a:tcPr anchor="ctr" marL="164592"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A3A06"/>
                          </a:solidFill>
                          <a:latin typeface="Menlo"/>
                        </a:rPr>
                        <a:t>github.com/airimonda/vcm-me2 — public, MIT</a:t>
                      </a:r>
                    </a:p>
                  </a:txBody>
                  <a:tcPr anchor="ctr" marL="16459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6B450B"/>
                          </a:solidFill>
                          <a:latin typeface="Helvetica Neue"/>
                        </a:rPr>
                        <a:t>Dataset location</a:t>
                      </a:r>
                    </a:p>
                  </a:txBody>
                  <a:tcPr anchor="ctr" marL="164592"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A3A06"/>
                          </a:solidFill>
                          <a:latin typeface="Menlo"/>
                        </a:rPr>
                        <a:t>huggingface.co/datasets/airimonda/ai231-me2-voice-commands (public, no DOI yet)</a:t>
                      </a:r>
                    </a:p>
                  </a:txBody>
                  <a:tcPr anchor="ctr" marL="16459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6B450B"/>
                          </a:solidFill>
                          <a:latin typeface="Helvetica Neue"/>
                        </a:rPr>
                        <a:t>A100 cluster</a:t>
                      </a:r>
                    </a:p>
                  </a:txBody>
                  <a:tcPr anchor="ctr" marL="164592"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A3A06"/>
                          </a:solidFill>
                          <a:latin typeface="Menlo"/>
                        </a:rPr>
                        <a:t>none: 1× RTX 5060 Laptop GPU · ~12–13 min per seed · seeds 0, 1, 2</a:t>
                      </a:r>
                    </a:p>
                  </a:txBody>
                  <a:tcPr anchor="ctr" marL="16459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6B450B"/>
                          </a:solidFill>
                          <a:latin typeface="Helvetica Neue"/>
                        </a:rPr>
                        <a:t>Model weights</a:t>
                      </a:r>
                    </a:p>
                  </a:txBody>
                  <a:tcPr anchor="ctr" marL="164592"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A3A06"/>
                          </a:solidFill>
                          <a:latin typeface="Menlo"/>
                        </a:rPr>
                        <a:t>tag v1.0 in the repo (models/*.onnx, models/ckpt/*.pt) — MIT</a:t>
                      </a:r>
                    </a:p>
                  </a:txBody>
                  <a:tcPr anchor="ctr" marL="16459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8912" y="3886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F4FD8"/>
                </a:solidFill>
                <a:latin typeface="Helvetica Neue"/>
              </a:rPr>
              <a:t>What the reviewer will look for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8912" y="4315968"/>
          <a:ext cx="11009376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852160"/>
                <a:gridCol w="4608576"/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</a:rPr>
                        <a:t>#</a:t>
                      </a:r>
                    </a:p>
                  </a:txBody>
                  <a:tcPr anchor="ctr" marL="109728">
                    <a:solidFill>
                      <a:srgbClr val="1727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</a:rPr>
                        <a:t>Item</a:t>
                      </a:r>
                    </a:p>
                  </a:txBody>
                  <a:tcPr anchor="ctr" marL="109728">
                    <a:solidFill>
                      <a:srgbClr val="1727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</a:rPr>
                        <a:t>Status</a:t>
                      </a:r>
                    </a:p>
                  </a:txBody>
                  <a:tcPr anchor="ctr" marL="109728">
                    <a:solidFill>
                      <a:srgbClr val="1727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anchor="ctr" marL="10972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Helvetica Neue"/>
                        </a:rPr>
                        <a:t>Repo public, one-command reproduction</a:t>
                      </a:r>
                    </a:p>
                  </a:txBody>
                  <a:tcPr anchor="ctr" marL="10972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Helvetica Neue"/>
                        </a:rPr>
                        <a:t>Partial: public; commands in docs/paper.md §10</a:t>
                      </a:r>
                    </a:p>
                  </a:txBody>
                  <a:tcPr anchor="ctr" marL="109728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Helvetica Neue"/>
                        </a:rPr>
                        <a:t>Dataset licensed and citable (DOI)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Helvetica Neue"/>
                        </a:rPr>
                        <a:t>To do: no licence or DOI yet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anchor="ctr" marL="10972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Helvetica Neue"/>
                        </a:rPr>
                        <a:t>Training logs + final checkpoint committed</a:t>
                      </a:r>
                    </a:p>
                  </a:txBody>
                  <a:tcPr anchor="ctr" marL="10972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Helvetica Neue"/>
                        </a:rPr>
                        <a:t>Done: results/runs/, models/ckpt/</a:t>
                      </a:r>
                    </a:p>
                  </a:txBody>
                  <a:tcPr anchor="ctr" marL="109728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Helvetica Neue"/>
                        </a:rPr>
                        <a:t>Pi 4 latency reproduced by the posted script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Helvetica Neue"/>
                        </a:rPr>
                        <a:t>Done: scripts/bench_onnx.py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 anchor="ctr" marL="10972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Helvetica Neue"/>
                        </a:rPr>
                        <a:t>Held-out test set, unseen speakers</a:t>
                      </a:r>
                    </a:p>
                  </a:txBody>
                  <a:tcPr anchor="ctr" marL="10972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Helvetica Neue"/>
                        </a:rPr>
                        <a:t>Done: 0 speakers shared</a:t>
                      </a:r>
                    </a:p>
                  </a:txBody>
                  <a:tcPr anchor="ctr" marL="109728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Helvetica Neue"/>
                        </a:rPr>
                        <a:t>6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Helvetica Neue"/>
                        </a:rPr>
                        <a:t>Baseline of comparable size compared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Helvetica Neue"/>
                        </a:rPr>
                        <a:t>Done: DS-CNN M 0.861 vs 0.935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607040" y="80010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Helvetica Neue"/>
              </a:rPr>
              <a:t>p. 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